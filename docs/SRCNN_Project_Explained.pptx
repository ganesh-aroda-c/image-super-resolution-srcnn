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548640"/>
            <a:ext cx="2468880" cy="1280160"/>
          </a:xfrm>
          <a:prstGeom prst="round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4080" y="2011680"/>
            <a:ext cx="1554480" cy="914400"/>
          </a:xfrm>
          <a:prstGeom prst="round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200400"/>
            <a:ext cx="2926080" cy="1371600"/>
          </a:xfrm>
          <a:prstGeom prst="roundRect">
            <a:avLst/>
          </a:prstGeom>
          <a:solidFill>
            <a:srgbClr val="21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28B4BE"/>
                </a:solidFill>
                <a:latin typeface="Aptos"/>
              </a:defRPr>
            </a:pPr>
            <a:r>
              <a:t>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680960" cy="1463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Image Super-Resolution</a:t>
            </a:r>
            <a:br/>
            <a:r>
              <a:t>using SRCNN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69494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000" b="0">
                <a:solidFill>
                  <a:srgbClr val="DAE5F2"/>
                </a:solidFill>
                <a:latin typeface="Aptos"/>
              </a:defRPr>
            </a:pPr>
            <a:r>
              <a:t>Turning low-resolution images into sharper, higher-resolution images with a convolutional neural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7315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B4C5DA"/>
                </a:solidFill>
                <a:latin typeface="Aptos"/>
              </a:defRPr>
            </a:pPr>
            <a:r>
              <a:t>UE24CS352A  •  NumPy implementation  •  Project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989320"/>
            <a:ext cx="2286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What problem are we solving, and what did we build?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82296" cy="150876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3677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3200400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Low-resolution images lose fine details and appear blurry or pixelated.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82296" cy="150876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3677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39112"/>
            <a:ext cx="3200400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Use SRCNN: a small convolutional neural network that learns to reconstruct image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82296" cy="150876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63677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039112"/>
            <a:ext cx="3200400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Forward pass, backpropagation, and Adam optimizer are implemented in pure NumPy.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10698480" cy="20116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rPr b="1"/>
              <a:t>• Input: a low-resolution image, enlarged to the target size using bicubic interpolation.</a:t>
            </a:r>
          </a:p>
          <a:p>
            <a:pPr>
              <a:spcAft>
                <a:spcPts val="9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rPr b="1"/>
              <a:t>• Output: a predicted high-resolution image with learned corrections.</a:t>
            </a:r>
          </a:p>
          <a:p>
            <a:pPr>
              <a:spcAft>
                <a:spcPts val="9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rPr b="1"/>
              <a:t>• Evaluation: compare predictions with the original target using MSE loss and PSNR.</a:t>
            </a:r>
          </a:p>
          <a:p>
            <a:pPr>
              <a:spcAft>
                <a:spcPts val="9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rPr b="1"/>
              <a:t>• Research question: does a learned CNN reconstruction outperform traditional resizing methods?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2. Why image super-resolution?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Upscaling adds pixels; super-resolution tries to recover plausible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82296" cy="182880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36776"/>
            <a:ext cx="31546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21E36"/>
                </a:solidFill>
                <a:latin typeface="Aptos"/>
              </a:defRPr>
            </a:pPr>
            <a:r>
              <a:t>Low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39112"/>
            <a:ext cx="3154679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263040"/>
                </a:solidFill>
                <a:latin typeface="Aptos"/>
              </a:defRPr>
            </a:pPr>
            <a:r>
              <a:t>Fewer pixels mean edges, textures and small structures are lost.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7472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08760"/>
            <a:ext cx="82296" cy="182880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36776"/>
            <a:ext cx="31546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21E36"/>
                </a:solidFill>
                <a:latin typeface="Aptos"/>
              </a:defRPr>
            </a:pPr>
            <a:r>
              <a:t>Interpolation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154679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263040"/>
                </a:solidFill>
                <a:latin typeface="Aptos"/>
              </a:defRPr>
            </a:pPr>
            <a:r>
              <a:t>Bilinear/bicubic resizing estimates new pixel values from nearby pixels.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08760"/>
            <a:ext cx="347472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508760"/>
            <a:ext cx="82296" cy="182880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1636776"/>
            <a:ext cx="31546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21E36"/>
                </a:solidFill>
                <a:latin typeface="Aptos"/>
              </a:defRPr>
            </a:pPr>
            <a:r>
              <a:t>SRCNN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039112"/>
            <a:ext cx="3154679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263040"/>
                </a:solidFill>
                <a:latin typeface="Aptos"/>
              </a:defRPr>
            </a:pPr>
            <a:r>
              <a:t>Learns patterns from examples to predict a closer approximation to the high-resolution target.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6984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1">
                <a:solidFill>
                  <a:srgbClr val="121E36"/>
                </a:solidFill>
                <a:latin typeface="Aptos"/>
              </a:defRPr>
            </a:pPr>
            <a:r>
              <a:t>Important limitation: a model cannot know the exact original details that were removed. It estimates detail from learned patterns, so outputs may still be imperfect.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Use cases: medical/scientific imagery, satellite images, old photos, digital zoom and image restoration.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3. 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The full pipeline from training data to a super-resolved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874519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82296" cy="160020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15544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High-resolution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1554479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224 × 224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481328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514600"/>
            <a:ext cx="438912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011680"/>
            <a:ext cx="1874519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82296" cy="160020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139696"/>
            <a:ext cx="15544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Degrade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42032"/>
            <a:ext cx="1554479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Downsample to 112 × 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481328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514600"/>
            <a:ext cx="438912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011680"/>
            <a:ext cx="1874519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60" y="2011680"/>
            <a:ext cx="82296" cy="160020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139696"/>
            <a:ext cx="15544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Upsample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542032"/>
            <a:ext cx="1554479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Bicubic back to 224 × 224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1481328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514600"/>
            <a:ext cx="438912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011680"/>
            <a:ext cx="1874519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2011680"/>
            <a:ext cx="82296" cy="160020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59" y="2139696"/>
            <a:ext cx="15544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SRCNN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2542032"/>
            <a:ext cx="1554479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Predict refined pixels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1" y="1481328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514600"/>
            <a:ext cx="438912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2011680"/>
            <a:ext cx="1874519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2011680"/>
            <a:ext cx="82296" cy="1600200"/>
          </a:xfrm>
          <a:prstGeom prst="rect">
            <a:avLst/>
          </a:prstGeom>
          <a:solidFill>
            <a:srgbClr val="3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139696"/>
            <a:ext cx="15544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542032"/>
            <a:ext cx="1554479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MSE loss + PSNR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3032" y="1481328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251960"/>
            <a:ext cx="1069848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0">
                <a:solidFill>
                  <a:srgbClr val="263040"/>
                </a:solidFill>
                <a:latin typeface="Aptos"/>
              </a:defRPr>
            </a:pPr>
            <a:r>
              <a:t>Training pairs are created from the same image: the degraded image is the input (X), and the original image is the target (Y). The model learns by reducing the difference between its prediction and 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4. SRCNN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Three convolutional layers: extract features → map features → reconstruct pixels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82880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82296" cy="123444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1508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21E3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59152"/>
            <a:ext cx="1508760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40"/>
                </a:solidFill>
                <a:latin typeface="Aptos"/>
              </a:defRPr>
            </a:pPr>
            <a:r>
              <a:t>224 × 224 × 3</a:t>
            </a:r>
            <a:br/>
            <a:r>
              <a:t>bicubic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274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0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828800"/>
            <a:ext cx="214884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828800"/>
            <a:ext cx="82296" cy="123444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956816"/>
            <a:ext cx="1828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21E36"/>
                </a:solidFill>
                <a:latin typeface="Aptos"/>
              </a:defRPr>
            </a:pPr>
            <a:r>
              <a:t>Conv 1 + ReLU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59152"/>
            <a:ext cx="1828800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40"/>
                </a:solidFill>
                <a:latin typeface="Aptos"/>
              </a:defRPr>
            </a:pPr>
            <a:r>
              <a:t>9 × 9 filters</a:t>
            </a:r>
            <a:br/>
            <a:r>
              <a:t>3 → 64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40280"/>
            <a:ext cx="274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0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828800"/>
            <a:ext cx="214884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1828800"/>
            <a:ext cx="82296" cy="123444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956816"/>
            <a:ext cx="1828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21E36"/>
                </a:solidFill>
                <a:latin typeface="Aptos"/>
              </a:defRPr>
            </a:pPr>
            <a:r>
              <a:t>Conv 2 + ReLU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359152"/>
            <a:ext cx="1828800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40"/>
                </a:solidFill>
                <a:latin typeface="Aptos"/>
              </a:defRPr>
            </a:pPr>
            <a:r>
              <a:t>1 × 1 filters</a:t>
            </a:r>
            <a:br/>
            <a:r>
              <a:t>64 → 32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240280"/>
            <a:ext cx="274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0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828800"/>
            <a:ext cx="214884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828800"/>
            <a:ext cx="82296" cy="1234440"/>
          </a:xfrm>
          <a:prstGeom prst="rect">
            <a:avLst/>
          </a:prstGeom>
          <a:solidFill>
            <a:srgbClr val="3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59" y="1956816"/>
            <a:ext cx="1828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21E36"/>
                </a:solidFill>
                <a:latin typeface="Aptos"/>
              </a:defRPr>
            </a:pPr>
            <a:r>
              <a:t>Conv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2359152"/>
            <a:ext cx="1828800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40"/>
                </a:solidFill>
                <a:latin typeface="Aptos"/>
              </a:defRPr>
            </a:pPr>
            <a:r>
              <a:t>5 × 5 filters</a:t>
            </a:r>
            <a:br/>
            <a:r>
              <a:t>32 → 3 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240280"/>
            <a:ext cx="274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0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1828800"/>
            <a:ext cx="141732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1828800"/>
            <a:ext cx="82296" cy="123444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9" y="1956816"/>
            <a:ext cx="1097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21E3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19" y="2359152"/>
            <a:ext cx="1097280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40"/>
                </a:solidFill>
                <a:latin typeface="Aptos"/>
              </a:defRPr>
            </a:pPr>
            <a:r>
              <a:t>224 × 224 ×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03320"/>
            <a:ext cx="10789920" cy="18288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rPr b="1"/>
              <a:t>• Conv 1 — patch/feature extraction: detects local edges, corners and texture patterns.</a:t>
            </a:r>
          </a:p>
          <a:p>
            <a:pPr>
              <a:spcAft>
                <a:spcPts val="6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rPr b="1"/>
              <a:t>• Conv 2 — non-linear mapping: combines extracted features into useful representations.</a:t>
            </a:r>
          </a:p>
          <a:p>
            <a:pPr>
              <a:spcAft>
                <a:spcPts val="6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rPr b="1"/>
              <a:t>• Conv 3 — reconstruction: maps features back to the three RGB colour channels.</a:t>
            </a:r>
          </a:p>
          <a:p>
            <a:pPr>
              <a:spcAft>
                <a:spcPts val="6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rPr b="1"/>
              <a:t>• ReLU: keeps positive activations and adds non-linearity between layers.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5. How the model learns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Training adjusts convolution filters so the predicted image resembles the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82296" cy="132588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4533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Forward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3200400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Input image passes through all 3 convolution layers to produce 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82296" cy="132588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4533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Loss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47672"/>
            <a:ext cx="3200400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Mean Squared Error (MSE) measures average squared pixel difference.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82296" cy="132588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4533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Backward pass +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3200400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Hand-written gradients flow backward; Adam updates weights and biases.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521208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100" b="1">
                <a:solidFill>
                  <a:srgbClr val="121E36"/>
                </a:solidFill>
                <a:latin typeface="Aptos"/>
              </a:defRPr>
            </a:pPr>
            <a:r>
              <a:t>MSE = average of (prediction − target)²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5212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Lower MSE means smaller average pixel errors.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49377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000" b="1">
                <a:solidFill>
                  <a:srgbClr val="121E36"/>
                </a:solidFill>
                <a:latin typeface="Aptos"/>
              </a:defRPr>
            </a:pPr>
            <a:r>
              <a:t>Adam = adaptive gradient-based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77639"/>
            <a:ext cx="493776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It uses gradient information and running averages to choose parameter updates. The best checkpoint is selected by validation PSNR.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379B73"/>
                </a:solidFill>
                <a:latin typeface="Aptos"/>
              </a:defRPr>
            </a:pPr>
            <a:r>
              <a:t>Gradient test: finite-difference checks help verify that the manually coded backpropagation gradients are numerically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6. Dataset and experiment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A controlled image degradation setup makes training and evaluation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1554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82296" cy="155448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91056"/>
            <a:ext cx="31546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93392"/>
            <a:ext cx="315467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100 RGB images, each prepared as 224 × 224 crops.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74720" cy="1554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82296" cy="155448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91056"/>
            <a:ext cx="31546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2"/>
            <a:ext cx="315467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60 train / 20 validation / 20 test images; split by source photo.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474720" cy="1554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82296" cy="155448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91056"/>
            <a:ext cx="31546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21E36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2"/>
            <a:ext cx="315467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Random 48 × 48 patches, flips for augmentation, Adam optimization.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10607040" cy="16459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Train set: learn model parameters.</a:t>
            </a:r>
          </a:p>
          <a:p>
            <a:pPr>
              <a:spcAft>
                <a:spcPts val="7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Validation set: compare epochs/configurations and keep the best checkpoint.</a:t>
            </a:r>
          </a:p>
          <a:p>
            <a:pPr>
              <a:spcAft>
                <a:spcPts val="7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Test set: final evaluation on images not used to train or select the model.</a:t>
            </a:r>
          </a:p>
          <a:p>
            <a:pPr>
              <a:spcAft>
                <a:spcPts val="7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Reproducibility: seeded experiments and saved model weights/histories.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47080"/>
                </a:solidFill>
                <a:latin typeface="Aptos"/>
              </a:defRPr>
            </a:pPr>
            <a:r>
              <a:t>Dataset caveat: bundled images are sample-photo crops, not the full DIV2K benchmark; real DIV2K can be prepared separately.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7. How do we measure quality?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PSNR is the main image-quality metric reported by this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206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82296" cy="150876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36776"/>
            <a:ext cx="4800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21E36"/>
                </a:solidFill>
                <a:latin typeface="Aptos"/>
              </a:defRPr>
            </a:pPr>
            <a:r>
              <a:t>MSE — Mean Squared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4800600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263040"/>
                </a:solidFill>
                <a:latin typeface="Aptos"/>
              </a:defRPr>
            </a:pPr>
            <a:r>
              <a:t>Average squared difference between predicted and target pixel values. Lower is better.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1206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82296" cy="1508760"/>
          </a:xfrm>
          <a:prstGeom prst="rect">
            <a:avLst/>
          </a:prstGeom>
          <a:solidFill>
            <a:srgbClr val="3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36776"/>
            <a:ext cx="4800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21E36"/>
                </a:solidFill>
                <a:latin typeface="Aptos"/>
              </a:defRPr>
            </a:pPr>
            <a:r>
              <a:t>PSNR — Peak Signal-to-Noise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39112"/>
            <a:ext cx="4800600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263040"/>
                </a:solidFill>
                <a:latin typeface="Aptos"/>
              </a:defRPr>
            </a:pPr>
            <a:r>
              <a:t>A logarithmic metric derived from MSE. Higher PSNR generally means closer pixel-level similarity.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50292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200" b="1">
                <a:solidFill>
                  <a:srgbClr val="121E36"/>
                </a:solidFill>
                <a:latin typeface="Aptos"/>
              </a:defRPr>
            </a:pPr>
            <a:r>
              <a:t>PSNR = 10 · log₁₀(MAX² / MSE)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493776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40"/>
                </a:solidFill>
                <a:latin typeface="Aptos"/>
              </a:defRPr>
            </a:pPr>
            <a:r>
              <a:t>Here image values are normalized to [0, 1], so MAX = 1. PSNR is reported in decibels (dB).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20440"/>
            <a:ext cx="475488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40"/>
                </a:solidFill>
                <a:latin typeface="Aptos"/>
              </a:defRPr>
            </a:pPr>
            <a:r>
              <a:t>Interpretation:</a:t>
            </a:r>
            <a:br/>
            <a:r>
              <a:t>• +1 dB can indicate a measurable pixel-error reduction.</a:t>
            </a:r>
            <a:br/>
            <a:r>
              <a:t>• PSNR does not fully capture perceived sharpness or semantic quality.</a:t>
            </a:r>
            <a:br/>
            <a:r>
              <a:t>• Results depend strongly on the dataset and degradation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8. Main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Residual SRCNN achieved the highest reported test PSNR in this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7" name="Picture 6" descr="psn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3708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600200"/>
            <a:ext cx="297180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600200"/>
            <a:ext cx="82296" cy="1188720"/>
          </a:xfrm>
          <a:prstGeom prst="rect">
            <a:avLst/>
          </a:prstGeom>
          <a:solidFill>
            <a:srgbClr val="3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19" y="1728216"/>
            <a:ext cx="2651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Best variant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213055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40"/>
                </a:solidFill>
                <a:latin typeface="Aptos"/>
              </a:defRPr>
            </a:pPr>
            <a:r>
              <a:t>Residual SRCNN</a:t>
            </a:r>
            <a:br/>
            <a:r>
              <a:t>37.848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971800"/>
            <a:ext cx="297180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2971800"/>
            <a:ext cx="82296" cy="118872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19" y="3099816"/>
            <a:ext cx="2651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Basic SRCNN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350215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40"/>
                </a:solidFill>
                <a:latin typeface="Aptos"/>
              </a:defRPr>
            </a:pPr>
            <a:r>
              <a:t>36.567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526280"/>
            <a:ext cx="274320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Residual model adds the input image to the network output, helping the network learn a correction.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9. Experiments and what we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The team tested architecture/training choices, not only one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7899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554480"/>
                <a:gridCol w="6400800"/>
              </a:tblGrid>
              <a:tr h="56823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PSNR (dB)</a:t>
                      </a:r>
                    </a:p>
                  </a:txBody>
                  <a:tcPr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21E36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Basic SRCNN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36.567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Reference configuration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Residual SRCNN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37.848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Best test PSNR; predicts a 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L2 regularization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36.019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Slightly below basic SRCNN here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Tanh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33.027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Lower PSNR in this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Batch normalization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27.733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Lower PSNR in this setup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Bicubic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36.857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Strong interpolation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647080"/>
                </a:solidFill>
                <a:latin typeface="Aptos"/>
              </a:defRPr>
            </a:pPr>
            <a:r>
              <a:t>Interpret results cautiously: hyperparameters that help one dataset may not help another.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10. Our refinement: residual SRCNN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Instead of predicting the entire image from scratch, learn the correction to the upsampled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377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82296" cy="114300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2057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Bicubic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205740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Baseline enlarged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37360"/>
            <a:ext cx="2377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737360"/>
            <a:ext cx="82296" cy="114300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865376"/>
            <a:ext cx="2057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SRCNN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67712"/>
            <a:ext cx="205740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Predict learned correction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37360"/>
            <a:ext cx="2377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737360"/>
            <a:ext cx="82296" cy="1143000"/>
          </a:xfrm>
          <a:prstGeom prst="rect">
            <a:avLst/>
          </a:prstGeom>
          <a:solidFill>
            <a:srgbClr val="F5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865376"/>
            <a:ext cx="2057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67712"/>
            <a:ext cx="205740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Input + correction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737360"/>
            <a:ext cx="19202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737360"/>
            <a:ext cx="82296" cy="1143000"/>
          </a:xfrm>
          <a:prstGeom prst="rect">
            <a:avLst/>
          </a:prstGeom>
          <a:solidFill>
            <a:srgbClr val="3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865376"/>
            <a:ext cx="16002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267712"/>
            <a:ext cx="160020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40"/>
                </a:solidFill>
                <a:latin typeface="Aptos"/>
              </a:defRPr>
            </a:pPr>
            <a:r>
              <a:t>Refined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057400"/>
            <a:ext cx="502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2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057400"/>
            <a:ext cx="502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2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057400"/>
            <a:ext cx="502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2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57600"/>
            <a:ext cx="102412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300" b="1">
                <a:solidFill>
                  <a:srgbClr val="121E36"/>
                </a:solidFill>
                <a:latin typeface="Aptos"/>
              </a:defRPr>
            </a:pPr>
            <a:r>
              <a:t>Conceptually: output = bicubic input + learned residual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17720"/>
            <a:ext cx="1014984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700" b="0">
                <a:solidFill>
                  <a:srgbClr val="263040"/>
                </a:solidFill>
                <a:latin typeface="Aptos"/>
              </a:defRPr>
            </a:pPr>
            <a:r>
              <a:t>Why it can help: the interpolated image already contains the broad structure, so the network can focus on the missing details and corrections instead of relearning the whole image.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11. How to run the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The project includes scripts for training, evaluation, and side-by-side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1208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82296" cy="1417320"/>
          </a:xfrm>
          <a:prstGeom prst="rect">
            <a:avLst/>
          </a:prstGeom>
          <a:solidFill>
            <a:srgbClr val="2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45336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Run a sample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92040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python scripts/demo.py --input data/test/test_000_retina.png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82296" cy="1417320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45336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21E36"/>
                </a:solidFill>
                <a:latin typeface="Aptos"/>
              </a:defRPr>
            </a:pPr>
            <a:r>
              <a:t>Train 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47672"/>
            <a:ext cx="4892040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40"/>
                </a:solidFill>
                <a:latin typeface="Aptos"/>
              </a:defRPr>
            </a:pPr>
            <a:r>
              <a:t>python scripts/train.py --epochs 30 --lr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10515600" cy="19202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The demo loads saved weights from results/ by default.</a:t>
            </a:r>
          </a:p>
          <a:p>
            <a:pPr>
              <a:spcAft>
                <a:spcPts val="8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It writes a comparison image and a separate SRCNN output image.</a:t>
            </a:r>
          </a:p>
          <a:p>
            <a:pPr>
              <a:spcAft>
                <a:spcPts val="8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With the default demo mode, it degrades the input and can report bicubic vs SRCNN PSNR against the original.</a:t>
            </a:r>
          </a:p>
          <a:p>
            <a:pPr>
              <a:spcAft>
                <a:spcPts val="8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Use --no_degrade when the input is already low-resolution; no PSNR is reported because the original target is unknown.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47080"/>
                </a:solidFill>
                <a:latin typeface="Aptos"/>
              </a:defRPr>
            </a:pPr>
            <a:r>
              <a:t>Run commands from the project root after activating the virtual environment and installing requirements.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21E36"/>
                </a:solidFill>
                <a:latin typeface="Aptos"/>
              </a:defRPr>
            </a:pPr>
            <a:r>
              <a:t>12. Limitations and honest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64008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47080"/>
                </a:solidFill>
                <a:latin typeface="Aptos"/>
              </a:defRPr>
            </a:pPr>
            <a:r>
              <a:t>The results are promising for the residual variant, but they are not a universal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47080"/>
                </a:solidFill>
                <a:latin typeface="Aptos"/>
              </a:defRPr>
            </a:pPr>
            <a:r>
              <a:t>SRCNN Image Super-Resolution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470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34747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Small test set: only 20 test images; results can vary with image content.</a:t>
            </a:r>
          </a:p>
          <a:p>
            <a:pPr>
              <a:spcAft>
                <a:spcPts val="9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Single seed: differences of a few tenths of a dB are not statistically established.</a:t>
            </a:r>
          </a:p>
          <a:p>
            <a:pPr>
              <a:spcAft>
                <a:spcPts val="9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Dataset mismatch: the bundled sample crops are not the paper's full DIV2K benchmark.</a:t>
            </a:r>
          </a:p>
          <a:p>
            <a:pPr>
              <a:spcAft>
                <a:spcPts val="9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Basic model result: plain SRCNN slightly trails bicubic on the reported test set (36.567 vs 36.857 dB).</a:t>
            </a:r>
          </a:p>
          <a:p>
            <a:pPr>
              <a:spcAft>
                <a:spcPts val="9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Metric limitation: PSNR measures pixel fidelity, not necessarily how sharp or realistic an image looks.</a:t>
            </a:r>
          </a:p>
          <a:p>
            <a:pPr>
              <a:spcAft>
                <a:spcPts val="9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rPr b="1"/>
              <a:t>• Compute: pure NumPy makes the implementation transparent and laptop-friendly, but training is slower than GPU frameworks.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379B73"/>
                </a:solidFill>
                <a:latin typeface="Aptos"/>
              </a:defRPr>
            </a:pPr>
            <a:r>
              <a:t>Next steps: evaluate on a larger standard dataset, run multiple seeds, inspect visual crops, and compare perceptual metrics.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28B4B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 compact CNN can learn image reconstruction beyond simple resizing.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149840" cy="20574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6EEF8"/>
                </a:solidFill>
                <a:latin typeface="Aptos"/>
              </a:defRPr>
            </a:pPr>
            <a:r>
              <a:t>• Built SRCNN from scratch in NumPy, including forward/backward passes and Adam.</a:t>
            </a:r>
          </a:p>
          <a:p>
            <a:pPr>
              <a:spcAft>
                <a:spcPts val="1200"/>
              </a:spcAft>
              <a:defRPr sz="1900">
                <a:solidFill>
                  <a:srgbClr val="E6EEF8"/>
                </a:solidFill>
                <a:latin typeface="Aptos"/>
              </a:defRPr>
            </a:pPr>
            <a:r>
              <a:t>• Created paired low-/high-resolution data and evaluated with MSE and PSNR.</a:t>
            </a:r>
          </a:p>
          <a:p>
            <a:pPr>
              <a:spcAft>
                <a:spcPts val="1200"/>
              </a:spcAft>
              <a:defRPr sz="1900">
                <a:solidFill>
                  <a:srgbClr val="E6EEF8"/>
                </a:solidFill>
                <a:latin typeface="Aptos"/>
              </a:defRPr>
            </a:pPr>
            <a:r>
              <a:t>• Compared interpolation baselines and model variants.</a:t>
            </a:r>
          </a:p>
          <a:p>
            <a:pPr>
              <a:spcAft>
                <a:spcPts val="1200"/>
              </a:spcAft>
              <a:defRPr sz="1900">
                <a:solidFill>
                  <a:srgbClr val="E6EEF8"/>
                </a:solidFill>
                <a:latin typeface="Aptos"/>
              </a:defRPr>
            </a:pPr>
            <a:r>
              <a:t>• Residual SRCNN was the strongest configuration in this project’s reported test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28B4BE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